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6256000" cy="9144000"/>
  <p:notesSz cx="9144000" cy="16256000"/>
  <p:embeddedFontLst>
    <p:embeddedFont>
      <p:font typeface="Hedvig Letters Sans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tsvedabvnpug/mnt/agents/output/digital-transformation/images/1_Technology_Orange_Images_Browse_3.png">    </p:cNvPr>
          <p:cNvPicPr>
            <a:picLocks noChangeAspect="1"/>
          </p:cNvPicPr>
          <p:nvPr/>
        </p:nvPicPr>
        <p:blipFill>
          <a:blip r:embed="rId1"/>
          <a:srcRect l="0" r="0" t="1250" b="125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A0A">
                  <a:alpha val="95000"/>
                </a:srgbClr>
              </a:gs>
              <a:gs pos="55000">
                <a:srgbClr val="0A0A0A">
                  <a:alpha val="80000"/>
                </a:srgbClr>
              </a:gs>
              <a:gs pos="100000">
                <a:srgbClr val="0A0A0A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63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8A81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CCI-410 | UTS 2026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62000" y="3175000"/>
            <a:ext cx="1016000" cy="50800"/>
          </a:xfrm>
          <a:prstGeom prst="rect">
            <a:avLst/>
          </a:prstGeom>
          <a:solidFill>
            <a:srgbClr val="E8774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492500"/>
            <a:ext cx="952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200" spc="400" kern="0" dirty="0">
                <a:solidFill>
                  <a:srgbClr val="F2E9E4"/>
                </a:solidFill>
                <a:latin typeface="HedvigLettersSans" pitchFamily="34" charset="0"/>
                <a:ea typeface="HedvigLettersSans" pitchFamily="34" charset="-122"/>
                <a:cs typeface="HedvigLettersSans" pitchFamily="34" charset="-120"/>
              </a:rPr>
              <a:t>DIGITAL</a:t>
            </a:r>
            <a:endParaRPr lang="en-US" sz="5200" dirty="0"/>
          </a:p>
          <a:p>
            <a:pPr>
              <a:lnSpc>
                <a:spcPct val="110000"/>
              </a:lnSpc>
            </a:pPr>
            <a:r>
              <a:rPr lang="en-US" sz="5200" spc="400" kern="0" dirty="0">
                <a:solidFill>
                  <a:srgbClr val="F2E9E4"/>
                </a:solidFill>
                <a:latin typeface="HedvigLettersSans" pitchFamily="34" charset="0"/>
                <a:ea typeface="HedvigLettersSans" pitchFamily="34" charset="-122"/>
                <a:cs typeface="HedvigLettersSans" pitchFamily="34" charset="-120"/>
              </a:rPr>
              <a:t>TRANSFORMATION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762000" y="5334000"/>
            <a:ext cx="762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A81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Mengubah Bisnis, Budaya, dan Pengalaman di Era Digital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62000" y="6223000"/>
            <a:ext cx="2540000" cy="254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9" name="Text 6"/>
          <p:cNvSpPr/>
          <p:nvPr/>
        </p:nvSpPr>
        <p:spPr>
          <a:xfrm>
            <a:off x="762000" y="64770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A81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Isu Sosial &amp; Keprofesian Teknologi Informasi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A81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Universitas Esa Unggul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2000" y="8509000"/>
            <a:ext cx="14732000" cy="38100"/>
          </a:xfrm>
          <a:prstGeom prst="rect">
            <a:avLst/>
          </a:prstGeom>
          <a:solidFill>
            <a:srgbClr val="E8774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8A81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CCI-410 | PROFIL MAHASISWA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spc="100" kern="0" dirty="0">
                <a:solidFill>
                  <a:srgbClr val="F2E9E4"/>
                </a:solidFill>
                <a:latin typeface="HedvigLettersSans" pitchFamily="34" charset="0"/>
                <a:ea typeface="HedvigLettersSans" pitchFamily="34" charset="-122"/>
                <a:cs typeface="HedvigLettersSans" pitchFamily="34" charset="-120"/>
              </a:rPr>
              <a:t>PROFIL MAHASISWA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762000" cy="50800"/>
          </a:xfrm>
          <a:prstGeom prst="rect">
            <a:avLst/>
          </a:prstGeom>
          <a:solidFill>
            <a:srgbClr val="E8774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905000"/>
            <a:ext cx="698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Mahasiswa Semester 6 Universitas Esa Unggul yang merepresentasikan tiga karakteristik inti UEU dalam konteks Teknologi Informasi: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3048000"/>
            <a:ext cx="4572000" cy="4699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3048000"/>
            <a:ext cx="4572000" cy="50800"/>
          </a:xfrm>
          <a:prstGeom prst="rect">
            <a:avLst/>
          </a:prstGeom>
          <a:solidFill>
            <a:srgbClr val="E8774A"/>
          </a:solidFill>
          <a:ln/>
        </p:spPr>
      </p:sp>
      <p:sp>
        <p:nvSpPr>
          <p:cNvPr id="8" name="Shape 6"/>
          <p:cNvSpPr/>
          <p:nvPr/>
        </p:nvSpPr>
        <p:spPr>
          <a:xfrm>
            <a:off x="1079500" y="342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E8774A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4064000"/>
            <a:ext cx="393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spc="200" kern="0" dirty="0">
                <a:solidFill>
                  <a:srgbClr val="F2E9E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SMART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" y="4635500"/>
            <a:ext cx="3937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Mampu menganalisis tren teknologi dan menerapkan pemikiran kritis dalam memahami dampak digital terhadap masyarakat.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15000" y="3048000"/>
            <a:ext cx="4572000" cy="4699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3048000"/>
            <a:ext cx="4572000" cy="50800"/>
          </a:xfrm>
          <a:prstGeom prst="rect">
            <a:avLst/>
          </a:prstGeom>
          <a:solidFill>
            <a:srgbClr val="E877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089650" y="3429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E8774A"/>
          </a:solidFill>
          <a:ln/>
        </p:spPr>
      </p:sp>
      <p:sp>
        <p:nvSpPr>
          <p:cNvPr id="14" name="Text 12"/>
          <p:cNvSpPr/>
          <p:nvPr/>
        </p:nvSpPr>
        <p:spPr>
          <a:xfrm>
            <a:off x="6032500" y="4064000"/>
            <a:ext cx="393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spc="200" kern="0" dirty="0">
                <a:solidFill>
                  <a:srgbClr val="F2E9E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CREATIVE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0" y="4635500"/>
            <a:ext cx="3937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Menciptakan solusi inovatif dan pendekatan baru dalam menghadapi tantangan transformasi digital.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668000" y="3048000"/>
            <a:ext cx="4826000" cy="4699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68000" y="3048000"/>
            <a:ext cx="4826000" cy="50800"/>
          </a:xfrm>
          <a:prstGeom prst="rect">
            <a:avLst/>
          </a:prstGeom>
          <a:solidFill>
            <a:srgbClr val="E8774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85500" y="342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E8774A"/>
          </a:solidFill>
          <a:ln/>
        </p:spPr>
      </p:sp>
      <p:sp>
        <p:nvSpPr>
          <p:cNvPr id="19" name="Text 17"/>
          <p:cNvSpPr/>
          <p:nvPr/>
        </p:nvSpPr>
        <p:spPr>
          <a:xfrm>
            <a:off x="10985500" y="4064000"/>
            <a:ext cx="419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spc="200" kern="0" dirty="0">
                <a:solidFill>
                  <a:srgbClr val="F2E9E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ENTREPRENEURIAL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85500" y="4635500"/>
            <a:ext cx="4191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Memiliki visi bisnis digital, mampu mengidentifikasi peluang, dan siap membangun nilai di ekonomi digital.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8509000"/>
            <a:ext cx="14732000" cy="38100"/>
          </a:xfrm>
          <a:prstGeom prst="rect">
            <a:avLst/>
          </a:prstGeom>
          <a:solidFill>
            <a:srgbClr val="E8774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8A81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CCI-410 | DAFTAR ISI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spc="100" kern="0" dirty="0">
                <a:solidFill>
                  <a:srgbClr val="F2E9E4"/>
                </a:solidFill>
                <a:latin typeface="HedvigLettersSans" pitchFamily="34" charset="0"/>
                <a:ea typeface="HedvigLettersSans" pitchFamily="34" charset="-122"/>
                <a:cs typeface="HedvigLettersSans" pitchFamily="34" charset="-120"/>
              </a:rPr>
              <a:t>DAFTAR ISI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762000" cy="50800"/>
          </a:xfrm>
          <a:prstGeom prst="rect">
            <a:avLst/>
          </a:prstGeom>
          <a:solidFill>
            <a:srgbClr val="E8774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286000"/>
            <a:ext cx="7048500" cy="2540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2476500"/>
            <a:ext cx="152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spc="200" kern="0" dirty="0">
                <a:solidFill>
                  <a:srgbClr val="E877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3429000"/>
            <a:ext cx="647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spc="100" kern="0" dirty="0">
                <a:solidFill>
                  <a:srgbClr val="F2E9E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MEMAHAMI TRANSFORMASI DIGITAL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9370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A81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Definisi, evolusi digital, perbedaan digitization/digitalization/transformation, dan studi kasus Netflix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445500" y="2286000"/>
            <a:ext cx="7048500" cy="2540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99500" y="2476500"/>
            <a:ext cx="152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spc="200" kern="0" dirty="0">
                <a:solidFill>
                  <a:srgbClr val="E877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99500" y="3429000"/>
            <a:ext cx="647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spc="100" kern="0" dirty="0">
                <a:solidFill>
                  <a:srgbClr val="F2E9E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ELEMEN &amp; MANFAAT TRANSFORMASI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99500" y="39370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A81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Faktor kunci sukses (teknologi, orang, budaya) dan dampak strategis bagi organisasi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2000" y="5588000"/>
            <a:ext cx="14732000" cy="127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8509000"/>
            <a:ext cx="14732000" cy="38100"/>
          </a:xfrm>
          <a:prstGeom prst="rect">
            <a:avLst/>
          </a:prstGeom>
          <a:solidFill>
            <a:srgbClr val="E8774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8A81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CCI-410 | BAB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1270000"/>
            <a:ext cx="6350000" cy="266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spc="400" kern="0" dirty="0">
                <a:solidFill>
                  <a:srgbClr val="E8774A">
                    <a:alpha val="20000"/>
                  </a:srgbClr>
                </a:solidFill>
                <a:latin typeface="HedvigLettersSans" pitchFamily="34" charset="0"/>
                <a:ea typeface="HedvigLettersSans" pitchFamily="34" charset="-122"/>
                <a:cs typeface="HedvigLettersSans" pitchFamily="34" charset="-120"/>
              </a:rPr>
              <a:t>01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762000" y="4064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300" kern="0" dirty="0">
                <a:solidFill>
                  <a:srgbClr val="F2E9E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MEMAHAMI TRANSFORMASI DIGITAL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4953000"/>
            <a:ext cx="1016000" cy="50800"/>
          </a:xfrm>
          <a:prstGeom prst="rect">
            <a:avLst/>
          </a:prstGeom>
          <a:solidFill>
            <a:srgbClr val="E8774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5270500"/>
            <a:ext cx="889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A81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Konsep, Evolusi, dan Studi Kasus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8509000"/>
            <a:ext cx="14732000" cy="38100"/>
          </a:xfrm>
          <a:prstGeom prst="rect">
            <a:avLst/>
          </a:prstGeom>
          <a:solidFill>
            <a:srgbClr val="E8774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8A81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CCI-410 | BAB 01 — DEFINISI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spc="100" kern="0" dirty="0">
                <a:solidFill>
                  <a:srgbClr val="F2E9E4"/>
                </a:solidFill>
                <a:latin typeface="HedvigLettersSans" pitchFamily="34" charset="0"/>
                <a:ea typeface="HedvigLettersSans" pitchFamily="34" charset="-122"/>
                <a:cs typeface="HedvigLettersSans" pitchFamily="34" charset="-120"/>
              </a:rPr>
              <a:t>Apa Itu Transformasi Digital?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762000" cy="50800"/>
          </a:xfrm>
          <a:prstGeom prst="rect">
            <a:avLst/>
          </a:prstGeom>
          <a:solidFill>
            <a:srgbClr val="E8774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68500"/>
            <a:ext cx="14732000" cy="1651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968500"/>
            <a:ext cx="63500" cy="1651000"/>
          </a:xfrm>
          <a:prstGeom prst="rect">
            <a:avLst/>
          </a:prstGeom>
          <a:solidFill>
            <a:srgbClr val="E8774A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2095500"/>
            <a:ext cx="1409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"Transformasi digital adalah proses menggunakan teknologi digital untuk menciptakan baru — atau memodifikasi — proses bisnis, budaya, dan pengalaman pelanggan yang ada untuk memenuhi perubahan bisnis dan kebutuhan pasar."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62000" y="406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1150" y="177800"/>
                </a:moveTo>
                <a:cubicBezTo>
                  <a:pt x="311150" y="104202"/>
                  <a:pt x="251398" y="44450"/>
                  <a:pt x="177800" y="44450"/>
                </a:cubicBezTo>
                <a:cubicBezTo>
                  <a:pt x="104202" y="44450"/>
                  <a:pt x="44450" y="104202"/>
                  <a:pt x="44450" y="177800"/>
                </a:cubicBezTo>
                <a:cubicBezTo>
                  <a:pt x="44450" y="251398"/>
                  <a:pt x="104202" y="311150"/>
                  <a:pt x="177800" y="311150"/>
                </a:cubicBezTo>
                <a:cubicBezTo>
                  <a:pt x="251398" y="311150"/>
                  <a:pt x="311150" y="251398"/>
                  <a:pt x="311150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77800" y="233363"/>
                </a:moveTo>
                <a:cubicBezTo>
                  <a:pt x="208466" y="233363"/>
                  <a:pt x="233363" y="208466"/>
                  <a:pt x="233363" y="177800"/>
                </a:cubicBezTo>
                <a:cubicBezTo>
                  <a:pt x="233363" y="147134"/>
                  <a:pt x="208466" y="122238"/>
                  <a:pt x="177800" y="122238"/>
                </a:cubicBezTo>
                <a:cubicBezTo>
                  <a:pt x="147134" y="122238"/>
                  <a:pt x="122238" y="147134"/>
                  <a:pt x="122238" y="177800"/>
                </a:cubicBezTo>
                <a:cubicBezTo>
                  <a:pt x="122238" y="208466"/>
                  <a:pt x="147134" y="233363"/>
                  <a:pt x="177800" y="233363"/>
                </a:cubicBezTo>
                <a:close/>
                <a:moveTo>
                  <a:pt x="177800" y="77788"/>
                </a:moveTo>
                <a:cubicBezTo>
                  <a:pt x="232998" y="77788"/>
                  <a:pt x="277813" y="122602"/>
                  <a:pt x="277813" y="177800"/>
                </a:cubicBezTo>
                <a:cubicBezTo>
                  <a:pt x="277813" y="232998"/>
                  <a:pt x="232998" y="277813"/>
                  <a:pt x="177800" y="277813"/>
                </a:cubicBezTo>
                <a:cubicBezTo>
                  <a:pt x="122602" y="277813"/>
                  <a:pt x="77788" y="232998"/>
                  <a:pt x="77788" y="177800"/>
                </a:cubicBezTo>
                <a:cubicBezTo>
                  <a:pt x="77788" y="122602"/>
                  <a:pt x="122602" y="77788"/>
                  <a:pt x="177800" y="77788"/>
                </a:cubicBezTo>
                <a:close/>
                <a:moveTo>
                  <a:pt x="155575" y="177800"/>
                </a:moveTo>
                <a:cubicBezTo>
                  <a:pt x="155575" y="165534"/>
                  <a:pt x="165534" y="155575"/>
                  <a:pt x="177800" y="155575"/>
                </a:cubicBezTo>
                <a:cubicBezTo>
                  <a:pt x="190066" y="155575"/>
                  <a:pt x="200025" y="165534"/>
                  <a:pt x="200025" y="177800"/>
                </a:cubicBezTo>
                <a:cubicBezTo>
                  <a:pt x="200025" y="190066"/>
                  <a:pt x="190066" y="200025"/>
                  <a:pt x="177800" y="200025"/>
                </a:cubicBezTo>
                <a:cubicBezTo>
                  <a:pt x="165534" y="200025"/>
                  <a:pt x="155575" y="190066"/>
                  <a:pt x="155575" y="177800"/>
                </a:cubicBezTo>
                <a:close/>
              </a:path>
            </a:pathLst>
          </a:custGeom>
          <a:solidFill>
            <a:srgbClr val="E8774A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40386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spc="100" kern="0" dirty="0">
                <a:solidFill>
                  <a:srgbClr val="F2E9E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LEBIH DARI SEKADAR TEKNOLOGI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0000" y="4470400"/>
            <a:ext cx="660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Bukan sekadar adopsi teknologi, melainkan perubahan fundamental cara berpikir dan berinteraksi dengan pelanggan.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571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5770" y="158700"/>
                </a:moveTo>
                <a:cubicBezTo>
                  <a:pt x="55007" y="94109"/>
                  <a:pt x="110639" y="44450"/>
                  <a:pt x="177800" y="44450"/>
                </a:cubicBezTo>
                <a:cubicBezTo>
                  <a:pt x="214610" y="44450"/>
                  <a:pt x="247948" y="59382"/>
                  <a:pt x="272117" y="83483"/>
                </a:cubicBezTo>
                <a:cubicBezTo>
                  <a:pt x="272256" y="83622"/>
                  <a:pt x="272395" y="83760"/>
                  <a:pt x="272534" y="83899"/>
                </a:cubicBezTo>
                <a:lnTo>
                  <a:pt x="277813" y="88900"/>
                </a:lnTo>
                <a:lnTo>
                  <a:pt x="244544" y="88900"/>
                </a:lnTo>
                <a:cubicBezTo>
                  <a:pt x="232251" y="88900"/>
                  <a:pt x="222319" y="98832"/>
                  <a:pt x="222319" y="111125"/>
                </a:cubicBezTo>
                <a:cubicBezTo>
                  <a:pt x="222319" y="123418"/>
                  <a:pt x="232251" y="133350"/>
                  <a:pt x="244544" y="133350"/>
                </a:cubicBezTo>
                <a:lnTo>
                  <a:pt x="333444" y="133350"/>
                </a:lnTo>
                <a:cubicBezTo>
                  <a:pt x="345738" y="133350"/>
                  <a:pt x="355669" y="123418"/>
                  <a:pt x="355669" y="111125"/>
                </a:cubicBezTo>
                <a:lnTo>
                  <a:pt x="355669" y="22225"/>
                </a:lnTo>
                <a:cubicBezTo>
                  <a:pt x="355669" y="9932"/>
                  <a:pt x="345738" y="0"/>
                  <a:pt x="333444" y="0"/>
                </a:cubicBezTo>
                <a:cubicBezTo>
                  <a:pt x="321151" y="0"/>
                  <a:pt x="311219" y="9932"/>
                  <a:pt x="311219" y="22225"/>
                </a:cubicBezTo>
                <a:lnTo>
                  <a:pt x="311219" y="59313"/>
                </a:lnTo>
                <a:lnTo>
                  <a:pt x="303371" y="51881"/>
                </a:lnTo>
                <a:cubicBezTo>
                  <a:pt x="271214" y="19864"/>
                  <a:pt x="226764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lose/>
                <a:moveTo>
                  <a:pt x="353794" y="203150"/>
                </a:moveTo>
                <a:cubicBezTo>
                  <a:pt x="355531" y="190996"/>
                  <a:pt x="347057" y="179745"/>
                  <a:pt x="334972" y="178008"/>
                </a:cubicBezTo>
                <a:cubicBezTo>
                  <a:pt x="322888" y="176272"/>
                  <a:pt x="311567" y="184745"/>
                  <a:pt x="309830" y="196830"/>
                </a:cubicBezTo>
                <a:cubicBezTo>
                  <a:pt x="300593" y="261422"/>
                  <a:pt x="244961" y="311081"/>
                  <a:pt x="177800" y="311081"/>
                </a:cubicBezTo>
                <a:cubicBezTo>
                  <a:pt x="140990" y="311081"/>
                  <a:pt x="107652" y="296148"/>
                  <a:pt x="83483" y="272048"/>
                </a:cubicBezTo>
                <a:cubicBezTo>
                  <a:pt x="83344" y="271909"/>
                  <a:pt x="83205" y="271770"/>
                  <a:pt x="83066" y="271631"/>
                </a:cubicBezTo>
                <a:lnTo>
                  <a:pt x="77787" y="266631"/>
                </a:lnTo>
                <a:lnTo>
                  <a:pt x="111056" y="266631"/>
                </a:lnTo>
                <a:cubicBezTo>
                  <a:pt x="123349" y="266631"/>
                  <a:pt x="133281" y="256699"/>
                  <a:pt x="133281" y="244406"/>
                </a:cubicBezTo>
                <a:cubicBezTo>
                  <a:pt x="133281" y="232112"/>
                  <a:pt x="123349" y="222181"/>
                  <a:pt x="111056" y="222181"/>
                </a:cubicBezTo>
                <a:lnTo>
                  <a:pt x="22225" y="222250"/>
                </a:lnTo>
                <a:cubicBezTo>
                  <a:pt x="16321" y="222250"/>
                  <a:pt x="10626" y="224611"/>
                  <a:pt x="6459" y="228848"/>
                </a:cubicBezTo>
                <a:cubicBezTo>
                  <a:pt x="2292" y="233085"/>
                  <a:pt x="-69" y="238710"/>
                  <a:pt x="0" y="244683"/>
                </a:cubicBezTo>
                <a:lnTo>
                  <a:pt x="695" y="332889"/>
                </a:lnTo>
                <a:cubicBezTo>
                  <a:pt x="764" y="345182"/>
                  <a:pt x="10835" y="355044"/>
                  <a:pt x="23128" y="354905"/>
                </a:cubicBezTo>
                <a:cubicBezTo>
                  <a:pt x="35421" y="354767"/>
                  <a:pt x="45283" y="344765"/>
                  <a:pt x="45145" y="332472"/>
                </a:cubicBezTo>
                <a:lnTo>
                  <a:pt x="44867" y="296704"/>
                </a:lnTo>
                <a:lnTo>
                  <a:pt x="52298" y="303719"/>
                </a:lnTo>
                <a:cubicBezTo>
                  <a:pt x="84455" y="335736"/>
                  <a:pt x="128836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E8774A"/>
          </a:solidFill>
          <a:ln/>
        </p:spPr>
      </p:sp>
      <p:sp>
        <p:nvSpPr>
          <p:cNvPr id="12" name="Text 10"/>
          <p:cNvSpPr/>
          <p:nvPr/>
        </p:nvSpPr>
        <p:spPr>
          <a:xfrm>
            <a:off x="1270000" y="56896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spc="100" kern="0" dirty="0">
                <a:solidFill>
                  <a:srgbClr val="F2E9E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TRANSFORMASI MENDALAM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70000" y="6121400"/>
            <a:ext cx="660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Integrasi cerdas teknologi digital, proses, dan kompetensi di semua tingkatan organisasi secara strategis.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890000" y="3937000"/>
            <a:ext cx="6604000" cy="3175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9271000" y="4191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200" kern="0" dirty="0">
                <a:solidFill>
                  <a:srgbClr val="E877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Fokus Utama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71000" y="47625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77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Proses bisnis yang berubah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271000" y="5207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77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Budaya organisasi yang berevolusi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271000" y="56515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77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Pengalaman pelanggan yang ditingkatkan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71000" y="6096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77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Model bisnis yang ter-transformasi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8509000"/>
            <a:ext cx="14732000" cy="38100"/>
          </a:xfrm>
          <a:prstGeom prst="rect">
            <a:avLst/>
          </a:prstGeom>
          <a:solidFill>
            <a:srgbClr val="E8774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8A81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CCI-410 | BAB 01 — PERBEDAAN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spc="100" kern="0" dirty="0">
                <a:solidFill>
                  <a:srgbClr val="F2E9E4"/>
                </a:solidFill>
                <a:latin typeface="HedvigLettersSans" pitchFamily="34" charset="0"/>
                <a:ea typeface="HedvigLettersSans" pitchFamily="34" charset="-122"/>
                <a:cs typeface="HedvigLettersSans" pitchFamily="34" charset="-120"/>
              </a:rPr>
              <a:t>Digitization → Digitalization → Digital Transformation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762000" cy="50800"/>
          </a:xfrm>
          <a:prstGeom prst="rect">
            <a:avLst/>
          </a:prstGeom>
          <a:solidFill>
            <a:srgbClr val="E8774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032000"/>
            <a:ext cx="4699000" cy="5461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2032000"/>
            <a:ext cx="4699000" cy="63500"/>
          </a:xfrm>
          <a:prstGeom prst="rect">
            <a:avLst/>
          </a:prstGeom>
          <a:solidFill>
            <a:srgbClr val="E8774A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349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77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STEP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794000"/>
            <a:ext cx="4191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spc="100" kern="0" dirty="0">
                <a:solidFill>
                  <a:srgbClr val="F2E9E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DIGITIZATION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365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A81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 → Digital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16000" y="3873500"/>
            <a:ext cx="4191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Proses mengubah informasi dari format analog ke digital.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Contoh: memindai dokumen kertas ke file PDF, mengubah catatan buku besar menjadi spreadsheet.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E877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Fondasi teknis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perubahan format, bukan proses.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588000" y="457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9071" y="193496"/>
                </a:moveTo>
                <a:cubicBezTo>
                  <a:pt x="357753" y="184815"/>
                  <a:pt x="357753" y="170716"/>
                  <a:pt x="349071" y="162034"/>
                </a:cubicBezTo>
                <a:lnTo>
                  <a:pt x="237946" y="50909"/>
                </a:lnTo>
                <a:cubicBezTo>
                  <a:pt x="229265" y="42228"/>
                  <a:pt x="215166" y="42228"/>
                  <a:pt x="206484" y="50909"/>
                </a:cubicBezTo>
                <a:cubicBezTo>
                  <a:pt x="197803" y="59591"/>
                  <a:pt x="197803" y="73690"/>
                  <a:pt x="206484" y="82371"/>
                </a:cubicBezTo>
                <a:lnTo>
                  <a:pt x="279688" y="155575"/>
                </a:lnTo>
                <a:lnTo>
                  <a:pt x="22225" y="155575"/>
                </a:ln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279688" y="200025"/>
                </a:lnTo>
                <a:lnTo>
                  <a:pt x="206484" y="273229"/>
                </a:lnTo>
                <a:cubicBezTo>
                  <a:pt x="197802" y="281910"/>
                  <a:pt x="197802" y="296009"/>
                  <a:pt x="206484" y="304691"/>
                </a:cubicBezTo>
                <a:cubicBezTo>
                  <a:pt x="215166" y="313373"/>
                  <a:pt x="229265" y="313373"/>
                  <a:pt x="237946" y="304691"/>
                </a:cubicBezTo>
                <a:lnTo>
                  <a:pt x="349071" y="193566"/>
                </a:lnTo>
                <a:close/>
              </a:path>
            </a:pathLst>
          </a:custGeom>
          <a:solidFill>
            <a:srgbClr val="E8774A"/>
          </a:solidFill>
          <a:ln/>
        </p:spPr>
      </p:sp>
      <p:sp>
        <p:nvSpPr>
          <p:cNvPr id="12" name="Shape 10"/>
          <p:cNvSpPr/>
          <p:nvPr/>
        </p:nvSpPr>
        <p:spPr>
          <a:xfrm>
            <a:off x="6159500" y="2032000"/>
            <a:ext cx="4699000" cy="5461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59500" y="2032000"/>
            <a:ext cx="4699000" cy="6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13500" y="2349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F4A26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STEP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13500" y="2794000"/>
            <a:ext cx="4191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spc="100" kern="0" dirty="0">
                <a:solidFill>
                  <a:srgbClr val="F2E9E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DIGITALIZATION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3500" y="3365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A81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Proses yang lebih efisien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3500" y="3873500"/>
            <a:ext cx="4191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Menggunakan data digital untuk menyederhanakan cara kerja yang sudah mapan.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Contoh: sistem komputerisasi layanan pelanggan.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F4A26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Optimasi proses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hal yang sama, lebih cepat.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985500" y="457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9071" y="193496"/>
                </a:moveTo>
                <a:cubicBezTo>
                  <a:pt x="357753" y="184815"/>
                  <a:pt x="357753" y="170716"/>
                  <a:pt x="349071" y="162034"/>
                </a:cubicBezTo>
                <a:lnTo>
                  <a:pt x="237946" y="50909"/>
                </a:lnTo>
                <a:cubicBezTo>
                  <a:pt x="229265" y="42228"/>
                  <a:pt x="215166" y="42228"/>
                  <a:pt x="206484" y="50909"/>
                </a:cubicBezTo>
                <a:cubicBezTo>
                  <a:pt x="197803" y="59591"/>
                  <a:pt x="197803" y="73690"/>
                  <a:pt x="206484" y="82371"/>
                </a:cubicBezTo>
                <a:lnTo>
                  <a:pt x="279688" y="155575"/>
                </a:lnTo>
                <a:lnTo>
                  <a:pt x="22225" y="155575"/>
                </a:ln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279688" y="200025"/>
                </a:lnTo>
                <a:lnTo>
                  <a:pt x="206484" y="273229"/>
                </a:lnTo>
                <a:cubicBezTo>
                  <a:pt x="197802" y="281910"/>
                  <a:pt x="197802" y="296009"/>
                  <a:pt x="206484" y="304691"/>
                </a:cubicBezTo>
                <a:cubicBezTo>
                  <a:pt x="215166" y="313373"/>
                  <a:pt x="229265" y="313373"/>
                  <a:pt x="237946" y="304691"/>
                </a:cubicBezTo>
                <a:lnTo>
                  <a:pt x="349071" y="193566"/>
                </a:lnTo>
                <a:close/>
              </a:path>
            </a:pathLst>
          </a:custGeom>
          <a:solidFill>
            <a:srgbClr val="F4A261"/>
          </a:solidFill>
          <a:ln/>
        </p:spPr>
      </p:sp>
      <p:sp>
        <p:nvSpPr>
          <p:cNvPr id="19" name="Shape 17"/>
          <p:cNvSpPr/>
          <p:nvPr/>
        </p:nvSpPr>
        <p:spPr>
          <a:xfrm>
            <a:off x="11557000" y="2032000"/>
            <a:ext cx="3937000" cy="5461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57000" y="2032000"/>
            <a:ext cx="3937000" cy="63500"/>
          </a:xfrm>
          <a:prstGeom prst="rect">
            <a:avLst/>
          </a:prstGeom>
          <a:solidFill>
            <a:srgbClr val="E8774A"/>
          </a:solidFill>
          <a:ln/>
        </p:spPr>
      </p:sp>
      <p:sp>
        <p:nvSpPr>
          <p:cNvPr id="21" name="Text 19"/>
          <p:cNvSpPr/>
          <p:nvPr/>
        </p:nvSpPr>
        <p:spPr>
          <a:xfrm>
            <a:off x="11811000" y="23495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77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STEP 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11000" y="2794000"/>
            <a:ext cx="342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400" spc="100" kern="0" dirty="0">
                <a:solidFill>
                  <a:srgbClr val="F2E9E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DIGITAL TRANSFORMATION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11000" y="38100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A81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Revolusi strategis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11000" y="4318000"/>
            <a:ext cx="3429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Mengubah cara bisnis diselesaikan dan menciptakan kelas bisnis baru.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Meninjau ulang semua yang dilakukan organisasi.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E877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Revolusi bisnis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cara baru berpikir.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2000" y="8509000"/>
            <a:ext cx="14732000" cy="38100"/>
          </a:xfrm>
          <a:prstGeom prst="rect">
            <a:avLst/>
          </a:prstGeom>
          <a:solidFill>
            <a:srgbClr val="E8774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8A81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CCI-410 | BAB 01 — STUDI KASUS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spc="100" kern="0" dirty="0">
                <a:solidFill>
                  <a:srgbClr val="F2E9E4"/>
                </a:solidFill>
                <a:latin typeface="HedvigLettersSans" pitchFamily="34" charset="0"/>
                <a:ea typeface="HedvigLettersSans" pitchFamily="34" charset="-122"/>
                <a:cs typeface="HedvigLettersSans" pitchFamily="34" charset="-120"/>
              </a:rPr>
              <a:t>Studi Kasus: Netflix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762000" cy="50800"/>
          </a:xfrm>
          <a:prstGeom prst="rect">
            <a:avLst/>
          </a:prstGeom>
          <a:solidFill>
            <a:srgbClr val="E8774A"/>
          </a:solidFill>
          <a:ln/>
        </p:spPr>
      </p:sp>
      <p:pic>
        <p:nvPicPr>
          <p:cNvPr id="5" name="Image 0" descr="https://kimi-img.moonshot.cn/pub/slides/okc/qtsvedabvnpug/mnt/agents/output/digital-transformation/images/2_Netflix_Inside_the_creative_Los_Angeles.png">    </p:cNvPr>
          <p:cNvPicPr>
            <a:picLocks noChangeAspect="1"/>
          </p:cNvPicPr>
          <p:nvPr/>
        </p:nvPicPr>
        <p:blipFill>
          <a:blip r:embed="rId1"/>
          <a:srcRect l="0" r="0" t="3078" b="3078"/>
          <a:stretch/>
        </p:blipFill>
        <p:spPr>
          <a:xfrm>
            <a:off x="762000" y="1968500"/>
            <a:ext cx="6096000" cy="3810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2000" y="1968500"/>
            <a:ext cx="6096000" cy="3810000"/>
          </a:xfrm>
          <a:prstGeom prst="rect">
            <a:avLst/>
          </a:prstGeom>
          <a:gradFill rotWithShape="1" flip="none">
            <a:gsLst>
              <a:gs pos="0">
                <a:srgbClr val="0A0A0A">
                  <a:alpha val="0"/>
                </a:srgbClr>
              </a:gs>
              <a:gs pos="70000">
                <a:srgbClr val="0A0A0A">
                  <a:alpha val="0"/>
                </a:srgbClr>
              </a:gs>
              <a:gs pos="100000">
                <a:srgbClr val="0A0A0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7366000" y="1968500"/>
            <a:ext cx="8128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877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Evolusi Netflix: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Mail-order DVD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mengganggu penyewaan video fisik (Blockbuster)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streaming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mengganggu siaran TV kabel dan tradisional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Konten original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studio produksi in-house dengan data-driven decisions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Recommendation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sistem rekomendasi berbasis kecerdasan buatan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62000" y="6159500"/>
            <a:ext cx="14732000" cy="1651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2000" y="6159500"/>
            <a:ext cx="63500" cy="1651000"/>
          </a:xfrm>
          <a:prstGeom prst="rect">
            <a:avLst/>
          </a:prstGeom>
          <a:solidFill>
            <a:srgbClr val="E8774A"/>
          </a:solidFill>
          <a:ln/>
        </p:spPr>
      </p:sp>
      <p:sp>
        <p:nvSpPr>
          <p:cNvPr id="10" name="Text 7"/>
          <p:cNvSpPr/>
          <p:nvPr/>
        </p:nvSpPr>
        <p:spPr>
          <a:xfrm>
            <a:off x="1079500" y="6286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77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INSIGHT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79500" y="6604000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Netflix memanfaatkan teknologi tidak hanya untuk streaming, tetapi juga mengumpulkan wawasan mendalam tentang kebiasaan menonton — menggunakan data tersebut untuk menginformasikan desain UX hingga konten original.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877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Inilah transformasi digital dalam aksi.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62000" y="8509000"/>
            <a:ext cx="14732000" cy="38100"/>
          </a:xfrm>
          <a:prstGeom prst="rect">
            <a:avLst/>
          </a:prstGeom>
          <a:solidFill>
            <a:srgbClr val="E8774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tsvedabvnpug/mnt/agents/output/digital-transformation/images/4_Free_Tech_Team_Working_Image_Technology.png">    </p:cNvPr>
          <p:cNvPicPr>
            <a:picLocks noChangeAspect="1"/>
          </p:cNvPicPr>
          <p:nvPr/>
        </p:nvPicPr>
        <p:blipFill>
          <a:blip r:embed="rId1"/>
          <a:srcRect l="183" r="183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A0A">
                  <a:alpha val="94000"/>
                </a:srgbClr>
              </a:gs>
              <a:gs pos="50000">
                <a:srgbClr val="0A0A0A">
                  <a:alpha val="80000"/>
                </a:srgbClr>
              </a:gs>
              <a:gs pos="100000">
                <a:srgbClr val="0A0A0A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381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8A81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CCI-410 | BAB 02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62000" y="1270000"/>
            <a:ext cx="6350000" cy="266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spc="400" kern="0" dirty="0">
                <a:solidFill>
                  <a:srgbClr val="E8774A">
                    <a:alpha val="20000"/>
                  </a:srgbClr>
                </a:solidFill>
                <a:latin typeface="HedvigLettersSans" pitchFamily="34" charset="0"/>
                <a:ea typeface="HedvigLettersSans" pitchFamily="34" charset="-122"/>
                <a:cs typeface="HedvigLettersSans" pitchFamily="34" charset="-120"/>
              </a:rPr>
              <a:t>02</a:t>
            </a:r>
            <a:endParaRPr lang="en-US" sz="16000" dirty="0"/>
          </a:p>
        </p:txBody>
      </p:sp>
      <p:sp>
        <p:nvSpPr>
          <p:cNvPr id="6" name="Text 3"/>
          <p:cNvSpPr/>
          <p:nvPr/>
        </p:nvSpPr>
        <p:spPr>
          <a:xfrm>
            <a:off x="762000" y="4064000"/>
            <a:ext cx="1143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300" kern="0" dirty="0">
                <a:solidFill>
                  <a:srgbClr val="F2E9E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ELEMEN &amp; MANFAAT TRANSFORMASI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4953000"/>
            <a:ext cx="1016000" cy="50800"/>
          </a:xfrm>
          <a:prstGeom prst="rect">
            <a:avLst/>
          </a:prstGeom>
          <a:solidFill>
            <a:srgbClr val="E8774A"/>
          </a:solidFill>
          <a:ln/>
        </p:spPr>
      </p:sp>
      <p:sp>
        <p:nvSpPr>
          <p:cNvPr id="8" name="Text 5"/>
          <p:cNvSpPr/>
          <p:nvPr/>
        </p:nvSpPr>
        <p:spPr>
          <a:xfrm>
            <a:off x="762000" y="5270500"/>
            <a:ext cx="889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A81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Faktor Kunci dan Dampak Strategis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2000" y="8509000"/>
            <a:ext cx="14732000" cy="38100"/>
          </a:xfrm>
          <a:prstGeom prst="rect">
            <a:avLst/>
          </a:prstGeom>
          <a:solidFill>
            <a:srgbClr val="E8774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8A81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CCI-410 | BAB 02 — ELEMEN KUNCI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spc="100" kern="0" dirty="0">
                <a:solidFill>
                  <a:srgbClr val="F2E9E4"/>
                </a:solidFill>
                <a:latin typeface="HedvigLettersSans" pitchFamily="34" charset="0"/>
                <a:ea typeface="HedvigLettersSans" pitchFamily="34" charset="-122"/>
                <a:cs typeface="HedvigLettersSans" pitchFamily="34" charset="-120"/>
              </a:rPr>
              <a:t>Elemen Kunci Sukses Transformasi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762000" cy="50800"/>
          </a:xfrm>
          <a:prstGeom prst="rect">
            <a:avLst/>
          </a:prstGeom>
          <a:solidFill>
            <a:srgbClr val="E8774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032000"/>
            <a:ext cx="4699000" cy="5842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2032000"/>
            <a:ext cx="4699000" cy="63500"/>
          </a:xfrm>
          <a:prstGeom prst="rect">
            <a:avLst/>
          </a:prstGeom>
          <a:solidFill>
            <a:srgbClr val="E8774A"/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241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74625" y="23812"/>
                </a:moveTo>
                <a:cubicBezTo>
                  <a:pt x="174625" y="10616"/>
                  <a:pt x="164009" y="0"/>
                  <a:pt x="150813" y="0"/>
                </a:cubicBezTo>
                <a:cubicBezTo>
                  <a:pt x="137616" y="0"/>
                  <a:pt x="127000" y="10616"/>
                  <a:pt x="127000" y="23812"/>
                </a:cubicBezTo>
                <a:lnTo>
                  <a:pt x="127000" y="63500"/>
                </a:lnTo>
                <a:cubicBezTo>
                  <a:pt x="91976" y="63500"/>
                  <a:pt x="63500" y="91976"/>
                  <a:pt x="63500" y="127000"/>
                </a:cubicBezTo>
                <a:lnTo>
                  <a:pt x="23812" y="127000"/>
                </a:lnTo>
                <a:cubicBezTo>
                  <a:pt x="10616" y="127000"/>
                  <a:pt x="0" y="137616"/>
                  <a:pt x="0" y="150813"/>
                </a:cubicBezTo>
                <a:cubicBezTo>
                  <a:pt x="0" y="164009"/>
                  <a:pt x="10616" y="174625"/>
                  <a:pt x="23812" y="174625"/>
                </a:cubicBezTo>
                <a:lnTo>
                  <a:pt x="63500" y="174625"/>
                </a:lnTo>
                <a:lnTo>
                  <a:pt x="63500" y="230188"/>
                </a:lnTo>
                <a:lnTo>
                  <a:pt x="23812" y="230188"/>
                </a:lnTo>
                <a:cubicBezTo>
                  <a:pt x="10616" y="230188"/>
                  <a:pt x="0" y="240804"/>
                  <a:pt x="0" y="254000"/>
                </a:cubicBezTo>
                <a:cubicBezTo>
                  <a:pt x="0" y="267196"/>
                  <a:pt x="10616" y="277813"/>
                  <a:pt x="23812" y="277813"/>
                </a:cubicBezTo>
                <a:lnTo>
                  <a:pt x="63500" y="277813"/>
                </a:lnTo>
                <a:lnTo>
                  <a:pt x="63500" y="333375"/>
                </a:lnTo>
                <a:lnTo>
                  <a:pt x="23812" y="333375"/>
                </a:lnTo>
                <a:cubicBezTo>
                  <a:pt x="10616" y="333375"/>
                  <a:pt x="0" y="343991"/>
                  <a:pt x="0" y="357188"/>
                </a:cubicBezTo>
                <a:cubicBezTo>
                  <a:pt x="0" y="370384"/>
                  <a:pt x="10616" y="381000"/>
                  <a:pt x="23812" y="381000"/>
                </a:cubicBezTo>
                <a:lnTo>
                  <a:pt x="63500" y="381000"/>
                </a:lnTo>
                <a:cubicBezTo>
                  <a:pt x="63500" y="416024"/>
                  <a:pt x="91976" y="444500"/>
                  <a:pt x="127000" y="444500"/>
                </a:cubicBezTo>
                <a:lnTo>
                  <a:pt x="127000" y="484187"/>
                </a:lnTo>
                <a:cubicBezTo>
                  <a:pt x="127000" y="497384"/>
                  <a:pt x="137616" y="508000"/>
                  <a:pt x="150813" y="508000"/>
                </a:cubicBezTo>
                <a:cubicBezTo>
                  <a:pt x="164009" y="508000"/>
                  <a:pt x="174625" y="497384"/>
                  <a:pt x="174625" y="484187"/>
                </a:cubicBezTo>
                <a:lnTo>
                  <a:pt x="174625" y="444500"/>
                </a:lnTo>
                <a:lnTo>
                  <a:pt x="230188" y="444500"/>
                </a:lnTo>
                <a:lnTo>
                  <a:pt x="230188" y="484187"/>
                </a:lnTo>
                <a:cubicBezTo>
                  <a:pt x="230188" y="497384"/>
                  <a:pt x="240804" y="508000"/>
                  <a:pt x="254000" y="508000"/>
                </a:cubicBezTo>
                <a:cubicBezTo>
                  <a:pt x="267196" y="508000"/>
                  <a:pt x="277813" y="497384"/>
                  <a:pt x="277813" y="484187"/>
                </a:cubicBezTo>
                <a:lnTo>
                  <a:pt x="277813" y="444500"/>
                </a:lnTo>
                <a:lnTo>
                  <a:pt x="333375" y="444500"/>
                </a:lnTo>
                <a:lnTo>
                  <a:pt x="333375" y="484187"/>
                </a:lnTo>
                <a:cubicBezTo>
                  <a:pt x="333375" y="497384"/>
                  <a:pt x="343991" y="508000"/>
                  <a:pt x="357188" y="508000"/>
                </a:cubicBezTo>
                <a:cubicBezTo>
                  <a:pt x="370384" y="508000"/>
                  <a:pt x="381000" y="497384"/>
                  <a:pt x="381000" y="484187"/>
                </a:cubicBezTo>
                <a:lnTo>
                  <a:pt x="381000" y="444500"/>
                </a:lnTo>
                <a:cubicBezTo>
                  <a:pt x="416024" y="444500"/>
                  <a:pt x="444500" y="416024"/>
                  <a:pt x="444500" y="381000"/>
                </a:cubicBezTo>
                <a:lnTo>
                  <a:pt x="484187" y="381000"/>
                </a:lnTo>
                <a:cubicBezTo>
                  <a:pt x="497384" y="381000"/>
                  <a:pt x="508000" y="370384"/>
                  <a:pt x="508000" y="357188"/>
                </a:cubicBezTo>
                <a:cubicBezTo>
                  <a:pt x="508000" y="343991"/>
                  <a:pt x="497384" y="333375"/>
                  <a:pt x="484187" y="333375"/>
                </a:cubicBezTo>
                <a:lnTo>
                  <a:pt x="444500" y="333375"/>
                </a:lnTo>
                <a:lnTo>
                  <a:pt x="444500" y="277813"/>
                </a:lnTo>
                <a:lnTo>
                  <a:pt x="484187" y="277813"/>
                </a:lnTo>
                <a:cubicBezTo>
                  <a:pt x="497384" y="277813"/>
                  <a:pt x="508000" y="267196"/>
                  <a:pt x="508000" y="254000"/>
                </a:cubicBezTo>
                <a:cubicBezTo>
                  <a:pt x="508000" y="240804"/>
                  <a:pt x="497384" y="230188"/>
                  <a:pt x="484187" y="230188"/>
                </a:cubicBezTo>
                <a:lnTo>
                  <a:pt x="444500" y="230188"/>
                </a:lnTo>
                <a:lnTo>
                  <a:pt x="444500" y="174625"/>
                </a:lnTo>
                <a:lnTo>
                  <a:pt x="484187" y="174625"/>
                </a:lnTo>
                <a:cubicBezTo>
                  <a:pt x="497384" y="174625"/>
                  <a:pt x="508000" y="164009"/>
                  <a:pt x="508000" y="150813"/>
                </a:cubicBezTo>
                <a:cubicBezTo>
                  <a:pt x="508000" y="137616"/>
                  <a:pt x="497384" y="127000"/>
                  <a:pt x="484187" y="127000"/>
                </a:cubicBezTo>
                <a:lnTo>
                  <a:pt x="444500" y="127000"/>
                </a:lnTo>
                <a:cubicBezTo>
                  <a:pt x="444500" y="91976"/>
                  <a:pt x="416024" y="63500"/>
                  <a:pt x="381000" y="63500"/>
                </a:cubicBezTo>
                <a:lnTo>
                  <a:pt x="381000" y="23812"/>
                </a:lnTo>
                <a:cubicBezTo>
                  <a:pt x="381000" y="10616"/>
                  <a:pt x="370384" y="0"/>
                  <a:pt x="357188" y="0"/>
                </a:cubicBezTo>
                <a:cubicBezTo>
                  <a:pt x="343991" y="0"/>
                  <a:pt x="333375" y="10616"/>
                  <a:pt x="333375" y="23812"/>
                </a:cubicBezTo>
                <a:lnTo>
                  <a:pt x="333375" y="63500"/>
                </a:lnTo>
                <a:lnTo>
                  <a:pt x="277813" y="63500"/>
                </a:lnTo>
                <a:lnTo>
                  <a:pt x="277813" y="23812"/>
                </a:lnTo>
                <a:cubicBezTo>
                  <a:pt x="277813" y="10616"/>
                  <a:pt x="267196" y="0"/>
                  <a:pt x="254000" y="0"/>
                </a:cubicBezTo>
                <a:cubicBezTo>
                  <a:pt x="240804" y="0"/>
                  <a:pt x="230188" y="10616"/>
                  <a:pt x="230188" y="23812"/>
                </a:cubicBezTo>
                <a:lnTo>
                  <a:pt x="230188" y="63500"/>
                </a:lnTo>
                <a:lnTo>
                  <a:pt x="174625" y="63500"/>
                </a:lnTo>
                <a:lnTo>
                  <a:pt x="174625" y="23812"/>
                </a:lnTo>
                <a:close/>
                <a:moveTo>
                  <a:pt x="158750" y="127000"/>
                </a:moveTo>
                <a:lnTo>
                  <a:pt x="349250" y="127000"/>
                </a:lnTo>
                <a:cubicBezTo>
                  <a:pt x="366812" y="127000"/>
                  <a:pt x="381000" y="141188"/>
                  <a:pt x="381000" y="158750"/>
                </a:cubicBezTo>
                <a:lnTo>
                  <a:pt x="381000" y="349250"/>
                </a:lnTo>
                <a:cubicBezTo>
                  <a:pt x="381000" y="366812"/>
                  <a:pt x="366812" y="381000"/>
                  <a:pt x="349250" y="381000"/>
                </a:cubicBezTo>
                <a:lnTo>
                  <a:pt x="158750" y="381000"/>
                </a:lnTo>
                <a:cubicBezTo>
                  <a:pt x="141188" y="381000"/>
                  <a:pt x="127000" y="366812"/>
                  <a:pt x="127000" y="349250"/>
                </a:cubicBezTo>
                <a:lnTo>
                  <a:pt x="127000" y="158750"/>
                </a:lnTo>
                <a:cubicBezTo>
                  <a:pt x="127000" y="141188"/>
                  <a:pt x="141188" y="127000"/>
                  <a:pt x="158750" y="127000"/>
                </a:cubicBezTo>
                <a:close/>
                <a:moveTo>
                  <a:pt x="174625" y="174625"/>
                </a:moveTo>
                <a:lnTo>
                  <a:pt x="174625" y="333375"/>
                </a:lnTo>
                <a:lnTo>
                  <a:pt x="333375" y="333375"/>
                </a:lnTo>
                <a:lnTo>
                  <a:pt x="333375" y="174625"/>
                </a:lnTo>
                <a:lnTo>
                  <a:pt x="174625" y="174625"/>
                </a:lnTo>
                <a:close/>
              </a:path>
            </a:pathLst>
          </a:custGeom>
          <a:solidFill>
            <a:srgbClr val="E8774A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31115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spc="200" kern="0" dirty="0">
                <a:solidFill>
                  <a:srgbClr val="F2E9E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TEKNOLOGI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3683000"/>
            <a:ext cx="4064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computing, big data, AI/ML, IoT, dan mobile sebagai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E877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enabler utama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Namun teknologi hanyalah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sebagian dari persamaan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bukan satu-satunya jawaban.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Konvergensi AI + IoT + analitik data menjadi paling mengganggu.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78500" y="2032000"/>
            <a:ext cx="4699000" cy="5842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78500" y="2032000"/>
            <a:ext cx="4699000" cy="6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2500" y="2413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317500" y="15875"/>
                </a:moveTo>
                <a:cubicBezTo>
                  <a:pt x="374451" y="15875"/>
                  <a:pt x="420688" y="62112"/>
                  <a:pt x="420688" y="119063"/>
                </a:cubicBezTo>
                <a:cubicBezTo>
                  <a:pt x="420688" y="176013"/>
                  <a:pt x="374451" y="222250"/>
                  <a:pt x="317500" y="222250"/>
                </a:cubicBezTo>
                <a:cubicBezTo>
                  <a:pt x="260549" y="222250"/>
                  <a:pt x="214313" y="176013"/>
                  <a:pt x="214313" y="119063"/>
                </a:cubicBezTo>
                <a:cubicBezTo>
                  <a:pt x="214313" y="62112"/>
                  <a:pt x="260549" y="15875"/>
                  <a:pt x="317500" y="15875"/>
                </a:cubicBezTo>
                <a:close/>
                <a:moveTo>
                  <a:pt x="95250" y="87313"/>
                </a:moveTo>
                <a:cubicBezTo>
                  <a:pt x="134677" y="87313"/>
                  <a:pt x="166688" y="119323"/>
                  <a:pt x="166688" y="158750"/>
                </a:cubicBezTo>
                <a:cubicBezTo>
                  <a:pt x="166688" y="198177"/>
                  <a:pt x="134677" y="230188"/>
                  <a:pt x="95250" y="230188"/>
                </a:cubicBezTo>
                <a:cubicBezTo>
                  <a:pt x="55823" y="230188"/>
                  <a:pt x="23813" y="198177"/>
                  <a:pt x="23812" y="158750"/>
                </a:cubicBezTo>
                <a:cubicBezTo>
                  <a:pt x="23812" y="119323"/>
                  <a:pt x="55823" y="87313"/>
                  <a:pt x="95250" y="87313"/>
                </a:cubicBezTo>
                <a:close/>
                <a:moveTo>
                  <a:pt x="0" y="412750"/>
                </a:moveTo>
                <a:cubicBezTo>
                  <a:pt x="0" y="342602"/>
                  <a:pt x="56852" y="285750"/>
                  <a:pt x="127000" y="285750"/>
                </a:cubicBezTo>
                <a:cubicBezTo>
                  <a:pt x="139700" y="285750"/>
                  <a:pt x="152003" y="287635"/>
                  <a:pt x="163612" y="291108"/>
                </a:cubicBezTo>
                <a:cubicBezTo>
                  <a:pt x="130969" y="327620"/>
                  <a:pt x="111125" y="375841"/>
                  <a:pt x="111125" y="428625"/>
                </a:cubicBezTo>
                <a:lnTo>
                  <a:pt x="111125" y="444500"/>
                </a:lnTo>
                <a:cubicBezTo>
                  <a:pt x="111125" y="455811"/>
                  <a:pt x="113506" y="466527"/>
                  <a:pt x="117773" y="476250"/>
                </a:cubicBezTo>
                <a:lnTo>
                  <a:pt x="31750" y="476250"/>
                </a:lnTo>
                <a:cubicBezTo>
                  <a:pt x="14188" y="476250"/>
                  <a:pt x="0" y="462062"/>
                  <a:pt x="0" y="444500"/>
                </a:cubicBezTo>
                <a:lnTo>
                  <a:pt x="0" y="412750"/>
                </a:lnTo>
                <a:close/>
                <a:moveTo>
                  <a:pt x="517227" y="476250"/>
                </a:moveTo>
                <a:cubicBezTo>
                  <a:pt x="521494" y="466527"/>
                  <a:pt x="523875" y="455811"/>
                  <a:pt x="523875" y="444500"/>
                </a:cubicBezTo>
                <a:lnTo>
                  <a:pt x="523875" y="428625"/>
                </a:lnTo>
                <a:cubicBezTo>
                  <a:pt x="523875" y="375841"/>
                  <a:pt x="504031" y="327620"/>
                  <a:pt x="471388" y="291108"/>
                </a:cubicBezTo>
                <a:cubicBezTo>
                  <a:pt x="482997" y="287635"/>
                  <a:pt x="495300" y="285750"/>
                  <a:pt x="508000" y="285750"/>
                </a:cubicBezTo>
                <a:cubicBezTo>
                  <a:pt x="578148" y="285750"/>
                  <a:pt x="635000" y="342602"/>
                  <a:pt x="635000" y="412750"/>
                </a:cubicBezTo>
                <a:lnTo>
                  <a:pt x="635000" y="444500"/>
                </a:lnTo>
                <a:cubicBezTo>
                  <a:pt x="635000" y="462062"/>
                  <a:pt x="620812" y="476250"/>
                  <a:pt x="603250" y="476250"/>
                </a:cubicBezTo>
                <a:lnTo>
                  <a:pt x="517227" y="476250"/>
                </a:lnTo>
                <a:close/>
                <a:moveTo>
                  <a:pt x="468313" y="158750"/>
                </a:moveTo>
                <a:cubicBezTo>
                  <a:pt x="468313" y="119323"/>
                  <a:pt x="500323" y="87313"/>
                  <a:pt x="539750" y="87313"/>
                </a:cubicBezTo>
                <a:cubicBezTo>
                  <a:pt x="579177" y="87313"/>
                  <a:pt x="611188" y="119323"/>
                  <a:pt x="611188" y="158750"/>
                </a:cubicBezTo>
                <a:cubicBezTo>
                  <a:pt x="611188" y="198177"/>
                  <a:pt x="579177" y="230188"/>
                  <a:pt x="539750" y="230188"/>
                </a:cubicBezTo>
                <a:cubicBezTo>
                  <a:pt x="500323" y="230188"/>
                  <a:pt x="468313" y="198177"/>
                  <a:pt x="468313" y="158750"/>
                </a:cubicBezTo>
                <a:close/>
                <a:moveTo>
                  <a:pt x="158750" y="428625"/>
                </a:moveTo>
                <a:cubicBezTo>
                  <a:pt x="158750" y="340916"/>
                  <a:pt x="229791" y="269875"/>
                  <a:pt x="317500" y="269875"/>
                </a:cubicBezTo>
                <a:cubicBezTo>
                  <a:pt x="405209" y="269875"/>
                  <a:pt x="476250" y="340916"/>
                  <a:pt x="476250" y="428625"/>
                </a:cubicBezTo>
                <a:lnTo>
                  <a:pt x="476250" y="444500"/>
                </a:lnTo>
                <a:cubicBezTo>
                  <a:pt x="476250" y="462062"/>
                  <a:pt x="462062" y="476250"/>
                  <a:pt x="444500" y="476250"/>
                </a:cubicBezTo>
                <a:lnTo>
                  <a:pt x="190500" y="476250"/>
                </a:lnTo>
                <a:cubicBezTo>
                  <a:pt x="172938" y="476250"/>
                  <a:pt x="158750" y="462062"/>
                  <a:pt x="158750" y="444500"/>
                </a:cubicBezTo>
                <a:lnTo>
                  <a:pt x="158750" y="428625"/>
                </a:lnTo>
                <a:close/>
              </a:path>
            </a:pathLst>
          </a:cu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6096000" y="31115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spc="200" kern="0" dirty="0">
                <a:solidFill>
                  <a:srgbClr val="F2E9E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ORANG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0" y="3683000"/>
            <a:ext cx="4064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Transformasi menempatkan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4A26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orang dan strategi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 atas teknologi.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Keterlibatan, pemberdayaan, dan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kompetensi digital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karyawan menjadi faktor penentu.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Kepemimpinan dari atas (top-down) dengan dukungan seluruh pemangku kepentingan sangat krusial.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795000" y="2032000"/>
            <a:ext cx="4699000" cy="5842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95000" y="2032000"/>
            <a:ext cx="4699000" cy="63500"/>
          </a:xfrm>
          <a:prstGeom prst="rect">
            <a:avLst/>
          </a:prstGeom>
          <a:solidFill>
            <a:srgbClr val="E8774A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12500" y="241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0" y="31750"/>
                </a:moveTo>
                <a:cubicBezTo>
                  <a:pt x="508000" y="139005"/>
                  <a:pt x="431998" y="228501"/>
                  <a:pt x="330994" y="249436"/>
                </a:cubicBezTo>
                <a:cubicBezTo>
                  <a:pt x="323155" y="191790"/>
                  <a:pt x="297259" y="139898"/>
                  <a:pt x="259060" y="99715"/>
                </a:cubicBezTo>
                <a:cubicBezTo>
                  <a:pt x="298847" y="39688"/>
                  <a:pt x="367010" y="0"/>
                  <a:pt x="444500" y="0"/>
                </a:cubicBezTo>
                <a:lnTo>
                  <a:pt x="476250" y="0"/>
                </a:lnTo>
                <a:cubicBezTo>
                  <a:pt x="493812" y="0"/>
                  <a:pt x="508000" y="14188"/>
                  <a:pt x="508000" y="31750"/>
                </a:cubicBezTo>
                <a:close/>
                <a:moveTo>
                  <a:pt x="0" y="95250"/>
                </a:moveTo>
                <a:cubicBezTo>
                  <a:pt x="0" y="77688"/>
                  <a:pt x="14188" y="63500"/>
                  <a:pt x="31750" y="63500"/>
                </a:cubicBezTo>
                <a:lnTo>
                  <a:pt x="63500" y="63500"/>
                </a:lnTo>
                <a:cubicBezTo>
                  <a:pt x="186234" y="63500"/>
                  <a:pt x="285750" y="163016"/>
                  <a:pt x="285750" y="285750"/>
                </a:cubicBezTo>
                <a:lnTo>
                  <a:pt x="285750" y="476250"/>
                </a:lnTo>
                <a:cubicBezTo>
                  <a:pt x="285750" y="493812"/>
                  <a:pt x="271562" y="508000"/>
                  <a:pt x="254000" y="508000"/>
                </a:cubicBezTo>
                <a:cubicBezTo>
                  <a:pt x="236438" y="508000"/>
                  <a:pt x="222250" y="493812"/>
                  <a:pt x="222250" y="476250"/>
                </a:cubicBezTo>
                <a:lnTo>
                  <a:pt x="222250" y="317500"/>
                </a:lnTo>
                <a:cubicBezTo>
                  <a:pt x="99516" y="317500"/>
                  <a:pt x="0" y="217984"/>
                  <a:pt x="0" y="95250"/>
                </a:cubicBezTo>
                <a:close/>
              </a:path>
            </a:pathLst>
          </a:custGeom>
          <a:solidFill>
            <a:srgbClr val="E8774A"/>
          </a:solidFill>
          <a:ln/>
        </p:spPr>
      </p:sp>
      <p:sp>
        <p:nvSpPr>
          <p:cNvPr id="18" name="Text 16"/>
          <p:cNvSpPr/>
          <p:nvPr/>
        </p:nvSpPr>
        <p:spPr>
          <a:xfrm>
            <a:off x="11112500" y="31115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spc="200" kern="0" dirty="0">
                <a:solidFill>
                  <a:srgbClr val="F2E9E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BUDAYA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12500" y="3683000"/>
            <a:ext cx="4064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Organisasi harus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E877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gesit, berpusat pada pelanggan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dan hiper-sadar digital.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Perlu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mematahkan silo internal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mendorong kolaborasi lintas fungsi, dan mengadopsi mindset berkelanjutan.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Budaya juga tumpang tindih dengan proses dan kolaborasi.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8509000"/>
            <a:ext cx="14732000" cy="38100"/>
          </a:xfrm>
          <a:prstGeom prst="rect">
            <a:avLst/>
          </a:prstGeom>
          <a:solidFill>
            <a:srgbClr val="E8774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8A81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CCI-410 | BAB 02 — MANFAAT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spc="100" kern="0" dirty="0">
                <a:solidFill>
                  <a:srgbClr val="F2E9E4"/>
                </a:solidFill>
                <a:latin typeface="HedvigLettersSans" pitchFamily="34" charset="0"/>
                <a:ea typeface="HedvigLettersSans" pitchFamily="34" charset="-122"/>
                <a:cs typeface="HedvigLettersSans" pitchFamily="34" charset="-120"/>
              </a:rPr>
              <a:t>Manfaat Strategis Transformasi Digital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762000" cy="50800"/>
          </a:xfrm>
          <a:prstGeom prst="rect">
            <a:avLst/>
          </a:prstGeom>
          <a:solidFill>
            <a:srgbClr val="E8774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032000"/>
            <a:ext cx="7175500" cy="2794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9500" y="234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91294" y="69136"/>
                </a:moveTo>
                <a:lnTo>
                  <a:pt x="203200" y="85566"/>
                </a:lnTo>
                <a:lnTo>
                  <a:pt x="215106" y="69136"/>
                </a:lnTo>
                <a:cubicBezTo>
                  <a:pt x="234950" y="41672"/>
                  <a:pt x="266859" y="25400"/>
                  <a:pt x="300752" y="25400"/>
                </a:cubicBezTo>
                <a:cubicBezTo>
                  <a:pt x="359093" y="25400"/>
                  <a:pt x="406400" y="72708"/>
                  <a:pt x="406400" y="131048"/>
                </a:cubicBezTo>
                <a:lnTo>
                  <a:pt x="406400" y="133112"/>
                </a:lnTo>
                <a:cubicBezTo>
                  <a:pt x="406400" y="222171"/>
                  <a:pt x="295354" y="325596"/>
                  <a:pt x="237411" y="369808"/>
                </a:cubicBezTo>
                <a:cubicBezTo>
                  <a:pt x="227568" y="377269"/>
                  <a:pt x="215503" y="381000"/>
                  <a:pt x="203200" y="381000"/>
                </a:cubicBezTo>
                <a:cubicBezTo>
                  <a:pt x="190897" y="381000"/>
                  <a:pt x="178753" y="377349"/>
                  <a:pt x="168989" y="369808"/>
                </a:cubicBezTo>
                <a:cubicBezTo>
                  <a:pt x="111046" y="325596"/>
                  <a:pt x="0" y="222171"/>
                  <a:pt x="0" y="133112"/>
                </a:cubicBezTo>
                <a:lnTo>
                  <a:pt x="0" y="131048"/>
                </a:lnTo>
                <a:cubicBezTo>
                  <a:pt x="0" y="72708"/>
                  <a:pt x="47308" y="25400"/>
                  <a:pt x="105648" y="25400"/>
                </a:cubicBezTo>
                <a:cubicBezTo>
                  <a:pt x="139541" y="25400"/>
                  <a:pt x="171450" y="41672"/>
                  <a:pt x="191294" y="69136"/>
                </a:cubicBezTo>
                <a:close/>
              </a:path>
            </a:pathLst>
          </a:custGeom>
          <a:solidFill>
            <a:srgbClr val="E8774A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2349500"/>
            <a:ext cx="596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spc="100" kern="0" dirty="0">
                <a:solidFill>
                  <a:srgbClr val="F2E9E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PENGALAMAN PELANGGAN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2921000"/>
            <a:ext cx="660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Interaksi yang lebih bermakna,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77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personalisasi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dan layanan lintas saluran (omnichannel) yang menyenangkan — menumbuhkan loyalitas merek.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18500" y="2032000"/>
            <a:ext cx="7175500" cy="2794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1400" y="2349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77800" y="196850"/>
                </a:moveTo>
                <a:cubicBezTo>
                  <a:pt x="125230" y="196850"/>
                  <a:pt x="82550" y="154170"/>
                  <a:pt x="82550" y="101600"/>
                </a:cubicBezTo>
                <a:cubicBezTo>
                  <a:pt x="82550" y="49030"/>
                  <a:pt x="125230" y="6350"/>
                  <a:pt x="177800" y="6350"/>
                </a:cubicBezTo>
                <a:cubicBezTo>
                  <a:pt x="230370" y="6350"/>
                  <a:pt x="273050" y="49030"/>
                  <a:pt x="273050" y="101600"/>
                </a:cubicBezTo>
                <a:cubicBezTo>
                  <a:pt x="273050" y="154170"/>
                  <a:pt x="230370" y="196850"/>
                  <a:pt x="177800" y="196850"/>
                </a:cubicBezTo>
                <a:close/>
                <a:moveTo>
                  <a:pt x="153591" y="241300"/>
                </a:moveTo>
                <a:lnTo>
                  <a:pt x="202009" y="241300"/>
                </a:lnTo>
                <a:cubicBezTo>
                  <a:pt x="209709" y="241300"/>
                  <a:pt x="215900" y="247491"/>
                  <a:pt x="215900" y="255191"/>
                </a:cubicBezTo>
                <a:cubicBezTo>
                  <a:pt x="215900" y="258524"/>
                  <a:pt x="214709" y="261699"/>
                  <a:pt x="212566" y="264239"/>
                </a:cubicBezTo>
                <a:lnTo>
                  <a:pt x="190818" y="289639"/>
                </a:lnTo>
                <a:lnTo>
                  <a:pt x="215424" y="381000"/>
                </a:lnTo>
                <a:lnTo>
                  <a:pt x="215900" y="381000"/>
                </a:lnTo>
                <a:lnTo>
                  <a:pt x="243364" y="271066"/>
                </a:lnTo>
                <a:cubicBezTo>
                  <a:pt x="245110" y="264160"/>
                  <a:pt x="252174" y="259953"/>
                  <a:pt x="258842" y="262493"/>
                </a:cubicBezTo>
                <a:cubicBezTo>
                  <a:pt x="307975" y="281226"/>
                  <a:pt x="342900" y="328851"/>
                  <a:pt x="342900" y="384572"/>
                </a:cubicBezTo>
                <a:cubicBezTo>
                  <a:pt x="342900" y="396558"/>
                  <a:pt x="333137" y="406321"/>
                  <a:pt x="321151" y="406321"/>
                </a:cubicBezTo>
                <a:lnTo>
                  <a:pt x="34449" y="406400"/>
                </a:lnTo>
                <a:cubicBezTo>
                  <a:pt x="22463" y="406400"/>
                  <a:pt x="12700" y="396637"/>
                  <a:pt x="12700" y="384651"/>
                </a:cubicBezTo>
                <a:cubicBezTo>
                  <a:pt x="12700" y="328930"/>
                  <a:pt x="47625" y="281305"/>
                  <a:pt x="96758" y="262573"/>
                </a:cubicBezTo>
                <a:cubicBezTo>
                  <a:pt x="103426" y="260033"/>
                  <a:pt x="110490" y="264239"/>
                  <a:pt x="112236" y="271145"/>
                </a:cubicBezTo>
                <a:lnTo>
                  <a:pt x="139700" y="381079"/>
                </a:lnTo>
                <a:lnTo>
                  <a:pt x="140176" y="381079"/>
                </a:lnTo>
                <a:lnTo>
                  <a:pt x="164783" y="289719"/>
                </a:lnTo>
                <a:lnTo>
                  <a:pt x="143034" y="264319"/>
                </a:lnTo>
                <a:cubicBezTo>
                  <a:pt x="140891" y="261779"/>
                  <a:pt x="139700" y="258604"/>
                  <a:pt x="139700" y="255270"/>
                </a:cubicBezTo>
                <a:cubicBezTo>
                  <a:pt x="139700" y="247571"/>
                  <a:pt x="145891" y="241379"/>
                  <a:pt x="153591" y="241379"/>
                </a:cubicBezTo>
                <a:close/>
              </a:path>
            </a:pathLst>
          </a:custGeom>
          <a:solidFill>
            <a:srgbClr val="E8774A"/>
          </a:solidFill>
          <a:ln/>
        </p:spPr>
      </p:sp>
      <p:sp>
        <p:nvSpPr>
          <p:cNvPr id="11" name="Text 9"/>
          <p:cNvSpPr/>
          <p:nvPr/>
        </p:nvSpPr>
        <p:spPr>
          <a:xfrm>
            <a:off x="9207500" y="2349500"/>
            <a:ext cx="596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spc="100" kern="0" dirty="0">
                <a:solidFill>
                  <a:srgbClr val="F2E9E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PENGALAMAN KARYAWAN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36000" y="2921000"/>
            <a:ext cx="660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Alat modern, akses instan dari mana saja, dan lingkungan kerja yang lebih memuaskan — menghasilkan tenaga kerja yang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E877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lebih produktif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dan terlibat.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5207000"/>
            <a:ext cx="4699000" cy="2667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8700" y="55245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330121" y="167084"/>
                </a:moveTo>
                <a:cubicBezTo>
                  <a:pt x="339804" y="164465"/>
                  <a:pt x="349964" y="169069"/>
                  <a:pt x="354330" y="178038"/>
                </a:cubicBezTo>
                <a:lnTo>
                  <a:pt x="369094" y="207883"/>
                </a:lnTo>
                <a:cubicBezTo>
                  <a:pt x="377269" y="208994"/>
                  <a:pt x="385286" y="211217"/>
                  <a:pt x="392827" y="214313"/>
                </a:cubicBezTo>
                <a:lnTo>
                  <a:pt x="420608" y="195818"/>
                </a:lnTo>
                <a:cubicBezTo>
                  <a:pt x="428943" y="190262"/>
                  <a:pt x="439976" y="191373"/>
                  <a:pt x="447040" y="198438"/>
                </a:cubicBezTo>
                <a:lnTo>
                  <a:pt x="462280" y="213678"/>
                </a:lnTo>
                <a:cubicBezTo>
                  <a:pt x="469344" y="220742"/>
                  <a:pt x="470456" y="231854"/>
                  <a:pt x="464899" y="240109"/>
                </a:cubicBezTo>
                <a:lnTo>
                  <a:pt x="446405" y="267811"/>
                </a:lnTo>
                <a:cubicBezTo>
                  <a:pt x="447913" y="271542"/>
                  <a:pt x="449263" y="275431"/>
                  <a:pt x="450374" y="279479"/>
                </a:cubicBezTo>
                <a:cubicBezTo>
                  <a:pt x="451485" y="283528"/>
                  <a:pt x="452199" y="287496"/>
                  <a:pt x="452755" y="291544"/>
                </a:cubicBezTo>
                <a:lnTo>
                  <a:pt x="482679" y="306308"/>
                </a:lnTo>
                <a:cubicBezTo>
                  <a:pt x="491649" y="310753"/>
                  <a:pt x="496253" y="320913"/>
                  <a:pt x="493633" y="330518"/>
                </a:cubicBezTo>
                <a:lnTo>
                  <a:pt x="488077" y="351314"/>
                </a:lnTo>
                <a:cubicBezTo>
                  <a:pt x="485458" y="360918"/>
                  <a:pt x="476488" y="367427"/>
                  <a:pt x="466487" y="366792"/>
                </a:cubicBezTo>
                <a:lnTo>
                  <a:pt x="433149" y="364649"/>
                </a:lnTo>
                <a:cubicBezTo>
                  <a:pt x="428149" y="371078"/>
                  <a:pt x="422354" y="377031"/>
                  <a:pt x="415766" y="382111"/>
                </a:cubicBezTo>
                <a:lnTo>
                  <a:pt x="417909" y="415369"/>
                </a:lnTo>
                <a:cubicBezTo>
                  <a:pt x="418544" y="425371"/>
                  <a:pt x="412036" y="434419"/>
                  <a:pt x="402431" y="436959"/>
                </a:cubicBezTo>
                <a:lnTo>
                  <a:pt x="381635" y="442516"/>
                </a:lnTo>
                <a:cubicBezTo>
                  <a:pt x="371951" y="445135"/>
                  <a:pt x="361871" y="440531"/>
                  <a:pt x="357426" y="431562"/>
                </a:cubicBezTo>
                <a:lnTo>
                  <a:pt x="342662" y="401717"/>
                </a:lnTo>
                <a:cubicBezTo>
                  <a:pt x="334486" y="400606"/>
                  <a:pt x="326469" y="398383"/>
                  <a:pt x="318929" y="395288"/>
                </a:cubicBezTo>
                <a:lnTo>
                  <a:pt x="291148" y="413782"/>
                </a:lnTo>
                <a:cubicBezTo>
                  <a:pt x="282813" y="419338"/>
                  <a:pt x="271780" y="418227"/>
                  <a:pt x="264716" y="411163"/>
                </a:cubicBezTo>
                <a:lnTo>
                  <a:pt x="249476" y="395923"/>
                </a:lnTo>
                <a:cubicBezTo>
                  <a:pt x="242411" y="388858"/>
                  <a:pt x="241300" y="377825"/>
                  <a:pt x="246856" y="369491"/>
                </a:cubicBezTo>
                <a:lnTo>
                  <a:pt x="265351" y="341709"/>
                </a:lnTo>
                <a:cubicBezTo>
                  <a:pt x="263843" y="337979"/>
                  <a:pt x="262493" y="334089"/>
                  <a:pt x="261382" y="330041"/>
                </a:cubicBezTo>
                <a:cubicBezTo>
                  <a:pt x="260271" y="325993"/>
                  <a:pt x="259556" y="321945"/>
                  <a:pt x="259001" y="317976"/>
                </a:cubicBezTo>
                <a:lnTo>
                  <a:pt x="229076" y="303213"/>
                </a:lnTo>
                <a:cubicBezTo>
                  <a:pt x="220107" y="298768"/>
                  <a:pt x="215583" y="288608"/>
                  <a:pt x="218123" y="279003"/>
                </a:cubicBezTo>
                <a:lnTo>
                  <a:pt x="223679" y="258207"/>
                </a:lnTo>
                <a:cubicBezTo>
                  <a:pt x="226298" y="248602"/>
                  <a:pt x="235268" y="242094"/>
                  <a:pt x="245269" y="242729"/>
                </a:cubicBezTo>
                <a:lnTo>
                  <a:pt x="278527" y="244872"/>
                </a:lnTo>
                <a:cubicBezTo>
                  <a:pt x="283528" y="238442"/>
                  <a:pt x="289322" y="232489"/>
                  <a:pt x="295910" y="227409"/>
                </a:cubicBezTo>
                <a:lnTo>
                  <a:pt x="293767" y="194231"/>
                </a:lnTo>
                <a:cubicBezTo>
                  <a:pt x="293132" y="184229"/>
                  <a:pt x="299641" y="175181"/>
                  <a:pt x="309245" y="172641"/>
                </a:cubicBezTo>
                <a:lnTo>
                  <a:pt x="330041" y="167084"/>
                </a:lnTo>
                <a:close/>
                <a:moveTo>
                  <a:pt x="355918" y="269875"/>
                </a:moveTo>
                <a:cubicBezTo>
                  <a:pt x="336642" y="269897"/>
                  <a:pt x="321010" y="285564"/>
                  <a:pt x="321032" y="304840"/>
                </a:cubicBezTo>
                <a:cubicBezTo>
                  <a:pt x="321054" y="324115"/>
                  <a:pt x="336721" y="339747"/>
                  <a:pt x="355997" y="339725"/>
                </a:cubicBezTo>
                <a:cubicBezTo>
                  <a:pt x="375273" y="339703"/>
                  <a:pt x="390904" y="324036"/>
                  <a:pt x="390882" y="304760"/>
                </a:cubicBezTo>
                <a:cubicBezTo>
                  <a:pt x="390860" y="285485"/>
                  <a:pt x="375193" y="269853"/>
                  <a:pt x="355918" y="269875"/>
                </a:cubicBezTo>
                <a:close/>
                <a:moveTo>
                  <a:pt x="178514" y="-36116"/>
                </a:moveTo>
                <a:lnTo>
                  <a:pt x="199311" y="-30559"/>
                </a:lnTo>
                <a:cubicBezTo>
                  <a:pt x="208915" y="-27940"/>
                  <a:pt x="215424" y="-18891"/>
                  <a:pt x="214789" y="-8969"/>
                </a:cubicBezTo>
                <a:lnTo>
                  <a:pt x="212646" y="24209"/>
                </a:lnTo>
                <a:cubicBezTo>
                  <a:pt x="219234" y="29289"/>
                  <a:pt x="225028" y="35163"/>
                  <a:pt x="230029" y="41672"/>
                </a:cubicBezTo>
                <a:lnTo>
                  <a:pt x="263366" y="39529"/>
                </a:lnTo>
                <a:cubicBezTo>
                  <a:pt x="273288" y="38894"/>
                  <a:pt x="282337" y="45403"/>
                  <a:pt x="284956" y="55007"/>
                </a:cubicBezTo>
                <a:lnTo>
                  <a:pt x="290513" y="75803"/>
                </a:lnTo>
                <a:cubicBezTo>
                  <a:pt x="293053" y="85408"/>
                  <a:pt x="288528" y="95568"/>
                  <a:pt x="279559" y="100013"/>
                </a:cubicBezTo>
                <a:lnTo>
                  <a:pt x="249634" y="114776"/>
                </a:lnTo>
                <a:cubicBezTo>
                  <a:pt x="249079" y="118824"/>
                  <a:pt x="248285" y="122873"/>
                  <a:pt x="247253" y="126841"/>
                </a:cubicBezTo>
                <a:cubicBezTo>
                  <a:pt x="246221" y="130810"/>
                  <a:pt x="244793" y="134779"/>
                  <a:pt x="243284" y="138509"/>
                </a:cubicBezTo>
                <a:lnTo>
                  <a:pt x="261779" y="166291"/>
                </a:lnTo>
                <a:cubicBezTo>
                  <a:pt x="267335" y="174625"/>
                  <a:pt x="266224" y="185658"/>
                  <a:pt x="259159" y="192722"/>
                </a:cubicBezTo>
                <a:lnTo>
                  <a:pt x="243919" y="207963"/>
                </a:lnTo>
                <a:cubicBezTo>
                  <a:pt x="236855" y="215027"/>
                  <a:pt x="225822" y="216138"/>
                  <a:pt x="217488" y="210582"/>
                </a:cubicBezTo>
                <a:lnTo>
                  <a:pt x="189706" y="192088"/>
                </a:lnTo>
                <a:cubicBezTo>
                  <a:pt x="182166" y="195183"/>
                  <a:pt x="174149" y="197406"/>
                  <a:pt x="165973" y="198517"/>
                </a:cubicBezTo>
                <a:lnTo>
                  <a:pt x="151209" y="228362"/>
                </a:lnTo>
                <a:cubicBezTo>
                  <a:pt x="146764" y="237331"/>
                  <a:pt x="136604" y="241856"/>
                  <a:pt x="127000" y="239316"/>
                </a:cubicBezTo>
                <a:lnTo>
                  <a:pt x="106204" y="233759"/>
                </a:lnTo>
                <a:cubicBezTo>
                  <a:pt x="96520" y="231140"/>
                  <a:pt x="90091" y="222091"/>
                  <a:pt x="90726" y="212169"/>
                </a:cubicBezTo>
                <a:lnTo>
                  <a:pt x="92869" y="178911"/>
                </a:lnTo>
                <a:cubicBezTo>
                  <a:pt x="86281" y="173831"/>
                  <a:pt x="80486" y="167958"/>
                  <a:pt x="75486" y="161449"/>
                </a:cubicBezTo>
                <a:lnTo>
                  <a:pt x="42148" y="163592"/>
                </a:lnTo>
                <a:cubicBezTo>
                  <a:pt x="32226" y="164227"/>
                  <a:pt x="23178" y="157718"/>
                  <a:pt x="20558" y="148114"/>
                </a:cubicBezTo>
                <a:lnTo>
                  <a:pt x="15002" y="127318"/>
                </a:lnTo>
                <a:cubicBezTo>
                  <a:pt x="12462" y="117713"/>
                  <a:pt x="16986" y="107553"/>
                  <a:pt x="25956" y="103108"/>
                </a:cubicBezTo>
                <a:lnTo>
                  <a:pt x="55880" y="88344"/>
                </a:lnTo>
                <a:cubicBezTo>
                  <a:pt x="56436" y="84296"/>
                  <a:pt x="57229" y="80328"/>
                  <a:pt x="58261" y="76279"/>
                </a:cubicBezTo>
                <a:cubicBezTo>
                  <a:pt x="59373" y="72231"/>
                  <a:pt x="60643" y="68342"/>
                  <a:pt x="62230" y="64611"/>
                </a:cubicBezTo>
                <a:lnTo>
                  <a:pt x="43736" y="36909"/>
                </a:lnTo>
                <a:cubicBezTo>
                  <a:pt x="38179" y="28575"/>
                  <a:pt x="39291" y="17542"/>
                  <a:pt x="46355" y="10478"/>
                </a:cubicBezTo>
                <a:lnTo>
                  <a:pt x="61595" y="-4762"/>
                </a:lnTo>
                <a:cubicBezTo>
                  <a:pt x="68659" y="-11827"/>
                  <a:pt x="79693" y="-12938"/>
                  <a:pt x="88027" y="-7382"/>
                </a:cubicBezTo>
                <a:lnTo>
                  <a:pt x="115808" y="11113"/>
                </a:lnTo>
                <a:cubicBezTo>
                  <a:pt x="123349" y="8017"/>
                  <a:pt x="131366" y="5794"/>
                  <a:pt x="139541" y="4683"/>
                </a:cubicBezTo>
                <a:lnTo>
                  <a:pt x="154305" y="-25162"/>
                </a:lnTo>
                <a:cubicBezTo>
                  <a:pt x="158750" y="-34131"/>
                  <a:pt x="168831" y="-38656"/>
                  <a:pt x="178514" y="-36116"/>
                </a:cubicBezTo>
                <a:close/>
                <a:moveTo>
                  <a:pt x="152718" y="66675"/>
                </a:moveTo>
                <a:cubicBezTo>
                  <a:pt x="133442" y="66675"/>
                  <a:pt x="117793" y="82324"/>
                  <a:pt x="117793" y="101600"/>
                </a:cubicBezTo>
                <a:cubicBezTo>
                  <a:pt x="117793" y="120876"/>
                  <a:pt x="133442" y="136525"/>
                  <a:pt x="152718" y="136525"/>
                </a:cubicBezTo>
                <a:cubicBezTo>
                  <a:pt x="171993" y="136525"/>
                  <a:pt x="187643" y="120876"/>
                  <a:pt x="187643" y="101600"/>
                </a:cubicBezTo>
                <a:cubicBezTo>
                  <a:pt x="187643" y="82324"/>
                  <a:pt x="171993" y="66675"/>
                  <a:pt x="152718" y="66675"/>
                </a:cubicBezTo>
                <a:close/>
              </a:path>
            </a:pathLst>
          </a:cu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" y="6096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100" kern="0" dirty="0">
                <a:solidFill>
                  <a:srgbClr val="F2E9E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PENGOPTIMALAN PROSES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9500" y="6540500"/>
            <a:ext cx="406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Alur kerja yang disederhanakan, otomatisasi tugas, dan efisiensi operasional yang mengubah permainan.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778500" y="5207000"/>
            <a:ext cx="4699000" cy="2667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6000" y="552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8038" y="-1984"/>
                </a:moveTo>
                <a:cubicBezTo>
                  <a:pt x="193754" y="-11033"/>
                  <a:pt x="213122" y="-11033"/>
                  <a:pt x="228838" y="-1984"/>
                </a:cubicBezTo>
                <a:lnTo>
                  <a:pt x="368459" y="78581"/>
                </a:lnTo>
                <a:cubicBezTo>
                  <a:pt x="384175" y="87630"/>
                  <a:pt x="393859" y="104458"/>
                  <a:pt x="393859" y="122555"/>
                </a:cubicBezTo>
                <a:lnTo>
                  <a:pt x="393859" y="283686"/>
                </a:lnTo>
                <a:cubicBezTo>
                  <a:pt x="393859" y="301863"/>
                  <a:pt x="384175" y="318611"/>
                  <a:pt x="368459" y="327660"/>
                </a:cubicBezTo>
                <a:lnTo>
                  <a:pt x="228838" y="408384"/>
                </a:lnTo>
                <a:cubicBezTo>
                  <a:pt x="213122" y="417433"/>
                  <a:pt x="193754" y="417433"/>
                  <a:pt x="178038" y="408384"/>
                </a:cubicBezTo>
                <a:lnTo>
                  <a:pt x="38497" y="327819"/>
                </a:lnTo>
                <a:cubicBezTo>
                  <a:pt x="22781" y="318770"/>
                  <a:pt x="13097" y="301943"/>
                  <a:pt x="13097" y="283845"/>
                </a:cubicBezTo>
                <a:lnTo>
                  <a:pt x="13097" y="122714"/>
                </a:lnTo>
                <a:cubicBezTo>
                  <a:pt x="13097" y="104537"/>
                  <a:pt x="22781" y="87789"/>
                  <a:pt x="38497" y="78740"/>
                </a:cubicBezTo>
                <a:lnTo>
                  <a:pt x="178038" y="-1984"/>
                </a:lnTo>
                <a:close/>
                <a:moveTo>
                  <a:pt x="342979" y="283766"/>
                </a:moveTo>
                <a:lnTo>
                  <a:pt x="342979" y="151924"/>
                </a:lnTo>
                <a:lnTo>
                  <a:pt x="228838" y="217805"/>
                </a:lnTo>
                <a:lnTo>
                  <a:pt x="228838" y="349647"/>
                </a:lnTo>
                <a:lnTo>
                  <a:pt x="342979" y="283766"/>
                </a:lnTo>
                <a:close/>
              </a:path>
            </a:pathLst>
          </a:cu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6096000" y="6096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100" kern="0" dirty="0">
                <a:solidFill>
                  <a:srgbClr val="F2E9E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DIGITALISASI PRODUK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6000" y="6540500"/>
            <a:ext cx="406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Peningkatan produk dengan teknologi cerdas dan infrastruktur gesit untuk inovasi berkelanjutan.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795000" y="5207000"/>
            <a:ext cx="4699000" cy="2667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112500" y="552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F4A261"/>
          </a:solidFill>
          <a:ln/>
        </p:spPr>
      </p:sp>
      <p:sp>
        <p:nvSpPr>
          <p:cNvPr id="23" name="Text 21"/>
          <p:cNvSpPr/>
          <p:nvPr/>
        </p:nvSpPr>
        <p:spPr>
          <a:xfrm>
            <a:off x="11112500" y="6096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100" kern="0" dirty="0">
                <a:solidFill>
                  <a:srgbClr val="F2E9E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KEAMANAN DATA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112500" y="6540500"/>
            <a:ext cx="406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 keamanan holistik yang melindungi aset informasi di era perangkat terhubung dan data besar.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2000" y="8509000"/>
            <a:ext cx="14732000" cy="38100"/>
          </a:xfrm>
          <a:prstGeom prst="rect">
            <a:avLst/>
          </a:prstGeom>
          <a:solidFill>
            <a:srgbClr val="E8774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tsvedabvnpug/mnt/agents/output/digital-transformation/images/8_Dark_orange_duotone_Images_Free_Download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A0A">
                  <a:alpha val="90000"/>
                </a:srgbClr>
              </a:gs>
              <a:gs pos="50000">
                <a:srgbClr val="0A0A0A">
                  <a:alpha val="80000"/>
                </a:srgbClr>
              </a:gs>
              <a:gs pos="100000">
                <a:srgbClr val="0A0A0A">
                  <a:alpha val="7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286000"/>
            <a:ext cx="2540000" cy="50800"/>
          </a:xfrm>
          <a:prstGeom prst="rect">
            <a:avLst/>
          </a:prstGeom>
          <a:solidFill>
            <a:srgbClr val="E8774A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2667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spc="600" kern="0" dirty="0">
                <a:solidFill>
                  <a:srgbClr val="F2E9E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TERIMA KASIH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0" y="3810000"/>
            <a:ext cx="2540000" cy="50800"/>
          </a:xfrm>
          <a:prstGeom prst="rect">
            <a:avLst/>
          </a:prstGeom>
          <a:solidFill>
            <a:srgbClr val="E8774A"/>
          </a:solidFill>
          <a:ln/>
        </p:spPr>
      </p:sp>
      <p:sp>
        <p:nvSpPr>
          <p:cNvPr id="7" name="Text 4"/>
          <p:cNvSpPr/>
          <p:nvPr/>
        </p:nvSpPr>
        <p:spPr>
          <a:xfrm>
            <a:off x="2413000" y="4318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2E9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"Digital transformation adalah perjalanan, bukan destinasi. Organisasi yang berhasil adalah yang mampu mengintegrasikan teknologi, orang, dan budaya secara holistik untuk menciptakan nilai baru."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223000" y="5715000"/>
            <a:ext cx="3810000" cy="127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9" name="Text 6"/>
          <p:cNvSpPr/>
          <p:nvPr/>
        </p:nvSpPr>
        <p:spPr>
          <a:xfrm>
            <a:off x="3683000" y="6032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spc="300" kern="0" dirty="0">
                <a:solidFill>
                  <a:srgbClr val="E8774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UNIVERSITAS ESA UNGGUL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18000" y="65405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spc="400" kern="0" dirty="0">
                <a:solidFill>
                  <a:srgbClr val="8A817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· CREATIVE · ENTREPRENEURIAL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62000" y="8509000"/>
            <a:ext cx="14732000" cy="38100"/>
          </a:xfrm>
          <a:prstGeom prst="rect">
            <a:avLst/>
          </a:prstGeom>
          <a:solidFill>
            <a:srgbClr val="E8774A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Transformation — UTS Isu Sosial &amp; Keprofesian TI</dc:title>
  <dc:subject>Digital Transformation — UTS Isu Sosial &amp; Keprofesian TI</dc:subject>
  <dc:creator>Kimi</dc:creator>
  <cp:lastModifiedBy>Kimi</cp:lastModifiedBy>
  <cp:revision>1</cp:revision>
  <dcterms:created xsi:type="dcterms:W3CDTF">2026-05-27T06:58:50Z</dcterms:created>
  <dcterms:modified xsi:type="dcterms:W3CDTF">2026-05-27T06:58:50Z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{"Label":"Digital Transformation — UTS Isu Sosial &amp; Keprofesian TI","ContentProducer":"001191110108MACG2KBH8F10000","ProduceID":"19e68422-0b82-8ae5-8000-00002c821179","ReservedCode1":"","ContentPropagator":"001191110108MACG2KBH8F20000","PropagateID":"19e68422-0b82-8ae5-8000-00002c821179","ReservedCode2":""}</vt:lpwstr>
  </property>
</Properties>
</file>